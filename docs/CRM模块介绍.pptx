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82879"/>
            <a:ext cx="2377440" cy="2377440"/>
          </a:xfrm>
          <a:prstGeom prst="ellipse">
            <a:avLst/>
          </a:prstGeom>
          <a:noFill/>
          <a:ln w="317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82879"/>
            <a:ext cx="1371600" cy="1371600"/>
          </a:xfrm>
          <a:prstGeom prst="ellipse">
            <a:avLst/>
          </a:prstGeom>
          <a:noFill/>
          <a:ln w="19050">
            <a:solidFill>
              <a:srgbClr val="7FB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40080"/>
            <a:ext cx="2103120" cy="457200"/>
          </a:xfrm>
          <a:prstGeom prst="roundRect">
            <a:avLst>
              <a:gd name="adj" fmla="val 7000"/>
            </a:avLst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防腐保温智慧平台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防腐保温行业一体化智慧管理平台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CRM 客户关系管理系统 · 模块介绍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 · 联系人 · 商机 · 合同 · 回款 · 产品 · 公海 · 跟进 · 团队 · 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3108960" cy="1828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BFD0DF"/>
                </a:solidFill>
                <a:latin typeface="Microsoft YaHei"/>
                <a:ea typeface="Microsoft YaHei"/>
                <a:cs typeface="Microsoft YaHei"/>
              </a:rPr>
              <a:t>Spring Boot · Spring Cloud · Vue3 / Vben Admin · MySQL · Redis · Docker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BFD0DF"/>
                </a:solidFill>
                <a:latin typeface="Microsoft YaHei"/>
                <a:ea typeface="Microsoft YaHei"/>
                <a:cs typeface="Microsoft YaHei"/>
              </a:rPr>
              <a:t>txgycloud · 项目技术汇报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36499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364992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90195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38528"/>
            <a:ext cx="1810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项目背景与定位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5146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行业痛点 · 平台定位 · 多租户 SaaS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554480"/>
            <a:ext cx="336499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554480"/>
            <a:ext cx="3364992" cy="109728"/>
          </a:xfrm>
          <a:prstGeom prst="rect">
            <a:avLst/>
          </a:prstGeom>
          <a:solidFill>
            <a:srgbClr val="11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6" y="190195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1938528"/>
            <a:ext cx="1810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CRM 功能全景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5146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模块地图 · 前后台分层 · 角色场景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554480"/>
            <a:ext cx="336499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554480"/>
            <a:ext cx="3364992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0195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1938528"/>
            <a:ext cx="1810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核心业务全流程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514600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线索 → 客户 → 商机 → 合同 → 回款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22192"/>
            <a:ext cx="336499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822192"/>
            <a:ext cx="3364992" cy="109728"/>
          </a:xfrm>
          <a:prstGeom prst="rect">
            <a:avLst/>
          </a:prstGeom>
          <a:solidFill>
            <a:srgbClr val="11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16966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206240"/>
            <a:ext cx="1810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核心子模块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82312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客户 / 商机 / 合同 / 回款 / 产品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3822192"/>
            <a:ext cx="336499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8848" y="3822192"/>
            <a:ext cx="3364992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416966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8" y="4206240"/>
            <a:ext cx="1810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协同与数据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4782312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跟进 · 团队 · 操作日志 · 统计看板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3822192"/>
            <a:ext cx="336499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3822192"/>
            <a:ext cx="3364992" cy="109728"/>
          </a:xfrm>
          <a:prstGeom prst="rect">
            <a:avLst/>
          </a:prstGeom>
          <a:solidFill>
            <a:srgbClr val="11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416966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4206240"/>
            <a:ext cx="1810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架构与落地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4782312"/>
            <a:ext cx="1810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技术栈 · 多租户 · 演示数据与验收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项目背景与定位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面向防腐保温行业的销售·制造·回款一体化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440680" cy="4709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行业背景与建设目标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983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客户多为中石油 / 中石化 / 延长石油等央企国企，客单高、决策链长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防腐保温 = 制造 + 施工 + 供货，一条线索往往关联多个业务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需销售全链路可视化跟踪与回款风险管控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平台定位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983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以 yudao 多租户微服务架构为底座，构建覆盖客户经营全链路的企业级 CRM，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并与 ERP / MES / WMS / 流程审批深度打通。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57800" cy="1042415"/>
          </a:xfrm>
          <a:prstGeom prst="roundRect">
            <a:avLst>
              <a:gd name="adj" fmla="val 7000"/>
            </a:avLst>
          </a:prstGeom>
          <a:solidFill>
            <a:srgbClr val="16324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81912"/>
            <a:ext cx="1280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1 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581912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一体化平台 · 全链路打通的销售经营闭环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15184"/>
            <a:ext cx="5257800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779776"/>
            <a:ext cx="1280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10+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779776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业务子系统：CRM / ERP / MES / WMS / BPM /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13048"/>
            <a:ext cx="5257800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77639"/>
            <a:ext cx="1280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977639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租户（企业主体）多租户隔离、独立数据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010912"/>
            <a:ext cx="5257800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175503"/>
            <a:ext cx="1280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175503"/>
            <a:ext cx="3383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份 CRM 模块级需求文档，字段 / 字典 / 流程级交付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CRM 功能全景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按“营销前台 / 销售中台 / 履约回款 / 协同数据”四层划分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65176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2651760" cy="530352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营销前台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258568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线索档案 · 一键识别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2843784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线索智能分配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429000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客户公海（领取 / 分配）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32503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列表 / 表单 / 详情 / 导入导出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5" y="1508760"/>
            <a:ext cx="265176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2735" y="1508760"/>
            <a:ext cx="2651760" cy="530352"/>
          </a:xfrm>
          <a:prstGeom prst="rect">
            <a:avLst/>
          </a:prstGeom>
          <a:solidFill>
            <a:srgbClr val="11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1600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销售中台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5" y="2258568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客户管理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5615" y="2843784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联系人管理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5615" y="3429000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商机管理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85615" y="4014215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合同管理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4617719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列表 / 表单 / 详情 / 导入导出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1508760"/>
            <a:ext cx="265176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65392" y="1508760"/>
            <a:ext cx="2651760" cy="530352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1600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履约回款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8272" y="2258568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回款管理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8272" y="2843784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回款计划（到期提醒）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48272" y="3429000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产品与产品分类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032503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列表 / 表单 / 详情 / 导入导出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8047" y="1508760"/>
            <a:ext cx="265176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28047" y="1508760"/>
            <a:ext cx="2651760" cy="53035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7" y="16002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 · 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7" y="2258568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0927" y="2843784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团队成员协作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10927" y="3429000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操作日志审计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0927" y="4014215"/>
            <a:ext cx="2286000" cy="45720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多维统计看板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7" y="4617719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列表 / 表单 / 详情 / 导入导出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核心业务全流程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销售经营一条主线：从哪里来、谈得怎样、钱收没收回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官网 / 展会 / 招投标
智能识别建档</a:t>
            </a:r>
          </a:p>
        </p:txBody>
      </p:sp>
      <p:sp>
        <p:nvSpPr>
          <p:cNvPr id="10" name="Chevron 9"/>
          <p:cNvSpPr/>
          <p:nvPr/>
        </p:nvSpPr>
        <p:spPr>
          <a:xfrm rot="10800000">
            <a:off x="1993392" y="3291840"/>
            <a:ext cx="182880" cy="347472"/>
          </a:xfrm>
          <a:prstGeom prst="chevron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2264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客户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线索转化
公海领取 / 分配</a:t>
            </a:r>
          </a:p>
        </p:txBody>
      </p:sp>
      <p:sp>
        <p:nvSpPr>
          <p:cNvPr id="14" name="Chevron 13"/>
          <p:cNvSpPr/>
          <p:nvPr/>
        </p:nvSpPr>
        <p:spPr>
          <a:xfrm rot="10800000">
            <a:off x="3602736" y="3291840"/>
            <a:ext cx="182880" cy="347472"/>
          </a:xfrm>
          <a:prstGeom prst="chevron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联系人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关键决策人
主联系人</a:t>
            </a:r>
          </a:p>
        </p:txBody>
      </p:sp>
      <p:sp>
        <p:nvSpPr>
          <p:cNvPr id="18" name="Chevron 17"/>
          <p:cNvSpPr/>
          <p:nvPr/>
        </p:nvSpPr>
        <p:spPr>
          <a:xfrm rot="10800000">
            <a:off x="5212080" y="3291840"/>
            <a:ext cx="182880" cy="347472"/>
          </a:xfrm>
          <a:prstGeom prst="chevron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30952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2392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商机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分阶段推进
赢单率</a:t>
            </a:r>
          </a:p>
        </p:txBody>
      </p:sp>
      <p:sp>
        <p:nvSpPr>
          <p:cNvPr id="22" name="Chevron 21"/>
          <p:cNvSpPr/>
          <p:nvPr/>
        </p:nvSpPr>
        <p:spPr>
          <a:xfrm rot="10800000">
            <a:off x="6821424" y="3291840"/>
            <a:ext cx="182880" cy="347472"/>
          </a:xfrm>
          <a:prstGeom prst="chevron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0296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合同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审批流 → 生效
产品明细</a:t>
            </a:r>
          </a:p>
        </p:txBody>
      </p:sp>
      <p:sp>
        <p:nvSpPr>
          <p:cNvPr id="26" name="Chevron 25"/>
          <p:cNvSpPr/>
          <p:nvPr/>
        </p:nvSpPr>
        <p:spPr>
          <a:xfrm rot="10800000">
            <a:off x="8430768" y="3291840"/>
            <a:ext cx="182880" cy="347472"/>
          </a:xfrm>
          <a:prstGeom prst="chevron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49640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回款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回款计划
到账核销</a:t>
            </a:r>
          </a:p>
        </p:txBody>
      </p:sp>
      <p:sp>
        <p:nvSpPr>
          <p:cNvPr id="30" name="Chevron 29"/>
          <p:cNvSpPr/>
          <p:nvPr/>
        </p:nvSpPr>
        <p:spPr>
          <a:xfrm rot="10800000">
            <a:off x="10040112" y="3291840"/>
            <a:ext cx="182880" cy="347472"/>
          </a:xfrm>
          <a:prstGeom prst="chevron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58984" y="2377440"/>
            <a:ext cx="1517904" cy="2240280"/>
          </a:xfrm>
          <a:prstGeom prst="roundRect">
            <a:avLst>
              <a:gd name="adj" fmla="val 7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0424" y="2596896"/>
            <a:ext cx="13350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 协同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3273552"/>
            <a:ext cx="129844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跟进 / 团队
统计沉淀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029200"/>
            <a:ext cx="1090879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7550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贯穿数据：  </a:t>
            </a: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详情页以“客户”为枢纽，串联 联系人 / 商机 / 合同 / 回款 / 团队成员 / 跟进记录 / 操作日志；每次跟进、每笔回款、每个状态变更都留痕可查。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旗舰模块 · 客户管理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列表场景化 + 详情枢纽化 + 生命周期操作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04-①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4924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列表能力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场景切换   </a:t>
            </a: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我负责 / 我参与 / 下属负责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20 余列   </a:t>
            </a: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来源 / 级别 / 行业 / 成交 / 锁定 / 跟进 / 公海天数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74135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查询与批导   </a:t>
            </a: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名称 / 手机搜索 · 导入导出(可覆盖)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生命周期操作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新建 / 编辑 / 删除 · 锁定解锁 · 转移负责人 · 成交状态 · 放入公海 · 公海领取/分配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（资源占用上限、公海回池天数等规则可配置）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3619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详情页 Tab（客户为枢纽）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29968"/>
            <a:ext cx="248716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21408"/>
            <a:ext cx="23317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基本信息 + 系统信息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2029968"/>
            <a:ext cx="2331720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212140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798064"/>
            <a:ext cx="248716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889504"/>
            <a:ext cx="23317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联系人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2798064"/>
            <a:ext cx="2331720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4" y="2889504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团队成员(1负责人 / 2只读 / 3读写)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566160"/>
            <a:ext cx="248716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657600"/>
            <a:ext cx="23317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商机 / 合同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3566160"/>
            <a:ext cx="2331720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3657600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回款计划 + 回款记录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334256"/>
            <a:ext cx="2487168" cy="603504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25696"/>
            <a:ext cx="23317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操作日志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07424" y="4334256"/>
            <a:ext cx="2331720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4" y="4425696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字典驱动 · 权限过滤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商机与合同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过程可量化 · 履约有审批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04-②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商机管理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按流程类型推进：流程 → 阶段，含赢单率与预计成交时间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商机产品明细：标准价 / 成交价 / 数量，自动汇总金额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支持“状态类型 / 阶段”自定义配置，贴合行业打法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商机与客户、联系人、合同双向关联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18A8C"/>
                </a:solidFill>
                <a:latin typeface="Microsoft YaHei"/>
                <a:ea typeface="Microsoft YaHei"/>
                <a:cs typeface="Microsoft YaHei"/>
              </a:rPr>
              <a:t>合同管理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合同编号自动规则：TXGY-HT-YYYY-NNNN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产品明细行 + 折扣：合同总额 = 明细合计 × 折扣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提交后进入 BPM 审批流，审核通过才生效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回款计划随合同生成，金额联动合同剩余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回款管理与回款计划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每一笔应收都有计划、有提醒、有核销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04-③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663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回款管理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92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回款单：回款方式(转账 / 承兑 / 电汇…)、到账金额与日期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合同维度累计实际回款，自动计算未回款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进入审批流，通过后回款计划核销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94960" cy="4663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回款计划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分期计划：期数 / 计划金额 / 计划回款日期 / 回款方式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提前 N 天提醒，待办汇总待回款数量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未回款金额实时显示，逾期一目了然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“新建回款”一键由计划带出，回款后计划自动关闭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6172200"/>
            <a:ext cx="5715000" cy="457200"/>
          </a:xfrm>
          <a:prstGeom prst="roundRect">
            <a:avLst>
              <a:gd name="adj" fmla="val 7000"/>
            </a:avLst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计划回款金额 = 合同总额 − 已回款金额（联动规则）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产品 / 联系人 / 线索 / 公海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基础数据与获客入口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04-④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28016" cy="2286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6002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产品管理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1945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产品分类(树形两级) · 编码唯一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6517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单位 / 价格 / 上架状态 · 负责人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1089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商机 · 合同明细行引用产品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41732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417320"/>
            <a:ext cx="128016" cy="2286000"/>
          </a:xfrm>
          <a:prstGeom prst="rect">
            <a:avLst/>
          </a:prstGeom>
          <a:solidFill>
            <a:srgbClr val="11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6002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联系人管理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945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主联系人标记 · 职务 / 联系方式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517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可关联多个商机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089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与客户绑定，详情 Tab 联动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128016" cy="2286000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069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线索管理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7" y="46634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多渠道来源建档 · 客户 / 行业 / 级别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7" y="51206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一键识别：粘贴文本 / 图片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7" y="55778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转化客户后进入客户流程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3886200"/>
            <a:ext cx="539496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3886200"/>
            <a:ext cx="128016" cy="2286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客户公海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6634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回池规则与公海天数配置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1206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领取到本人 / 分配指定负责人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5778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公海客户不受普通查重约束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协同与数据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跟进留痕 · 权限协作 · 多维统计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640080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过程协同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5806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跟进记录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类型：电话 / 拜访 / 技术交流 / 招标答疑；关联下次联系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80360"/>
            <a:ext cx="5806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团队成员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负责人 + 协作成员，1 负责人 / 2 只读 / 3 读写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03320"/>
            <a:ext cx="5806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操作日志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客户 / 商机 / 合同 / 回款全量变更审计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26280"/>
            <a:ext cx="5806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待办提醒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计划回款到期、跟进逾期进入工作台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371600"/>
            <a:ext cx="429768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4813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统计看板（演示数据）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164840"/>
            <a:ext cx="658368" cy="1544320"/>
          </a:xfrm>
          <a:prstGeom prst="roundRect">
            <a:avLst>
              <a:gd name="adj" fmla="val 7000"/>
            </a:avLst>
          </a:prstGeom>
          <a:solidFill>
            <a:srgbClr val="11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183128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76402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线索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2971800"/>
            <a:ext cx="658368" cy="1737359"/>
          </a:xfrm>
          <a:prstGeom prst="roundRect">
            <a:avLst>
              <a:gd name="adj" fmla="val 7000"/>
            </a:avLst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990088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476402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72016" y="3550920"/>
            <a:ext cx="658368" cy="1158240"/>
          </a:xfrm>
          <a:prstGeom prst="roundRect">
            <a:avLst>
              <a:gd name="adj" fmla="val 7000"/>
            </a:avLst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3569208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476402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商机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13264" y="4130040"/>
            <a:ext cx="658368" cy="579120"/>
          </a:xfrm>
          <a:prstGeom prst="roundRect">
            <a:avLst>
              <a:gd name="adj" fmla="val 7000"/>
            </a:avLst>
          </a:prstGeom>
          <a:solidFill>
            <a:srgbClr val="D9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13264" y="4148328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476402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合同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54512" y="4323080"/>
            <a:ext cx="658368" cy="386080"/>
          </a:xfrm>
          <a:prstGeom prst="roundRect">
            <a:avLst>
              <a:gd name="adj" fmla="val 7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54512" y="4341368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4512" y="4764024"/>
            <a:ext cx="658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回款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5120640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看板：销售漏斗 · 排行榜 · 客户分析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客户画像 · 员工业绩 · 销售漏斗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技术架构与多租户设计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工程落地要点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06-①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92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后端：Java / Spring Boot / Spring Cloud · 模块化 Maven 工程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前端：Vue3 + TypeScript（Vben Admin，ele / antd 双实现）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存储：MySQL 8.4 · Redis 缓存 · 文件 OSS / S3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中间件：Nacos(注册/配置) · RocketMQ · XXL-Job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安全：Spring Security + OAuth2 · BCrypt · Knife4j 文档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· 部署：Docker 编排（单体 / 微服务两套）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94960" cy="4800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3619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多租户与权限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租户隔离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前端 header tenant-id → 自动注入 WHERE tenant_id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98648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RBAC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菜单 + 按钮 + 接口三级权限码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39896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数据权限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全部 / 本部门 / 本部门及以下 / 本人 / 自定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81144"/>
            <a:ext cx="4892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▍</a:t>
            </a:r>
            <a:r>
              <a:rPr sz="135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字典与审计   </a:t>
            </a:r>
            <a:r>
              <a:rPr sz="12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数据字典全局共享 · 操作 / 登录日志全留存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93776"/>
            <a:ext cx="128016" cy="292608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6576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演示数据与验收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9509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开箱即用的演示环境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572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06-②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演示环境已就绪：</a:t>
            </a:r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固邦防腐材料制造有限公司租户（id=2012），Docker 一键启动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94960" cy="23957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6F95"/>
                </a:solidFill>
                <a:latin typeface="Microsoft YaHei"/>
                <a:ea typeface="Microsoft YaHei"/>
                <a:cs typeface="Microsoft YaHei"/>
              </a:rPr>
              <a:t>可登录测试账号（密码 admin123）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2395728" cy="493776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gubang_sales_rep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普通销售业务员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697480"/>
            <a:ext cx="2395728" cy="493776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gubang_sales_manager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218688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销售经理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38728"/>
            <a:ext cx="2395728" cy="493776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gubang_customer_service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6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客服专员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538728"/>
            <a:ext cx="2395728" cy="493776"/>
          </a:xfrm>
          <a:prstGeom prst="roundRect">
            <a:avLst>
              <a:gd name="adj" fmla="val 7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gubang_dept_manager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059936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部门主管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11680"/>
            <a:ext cx="539496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1579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18A8C"/>
                </a:solidFill>
                <a:latin typeface="Microsoft YaHei"/>
                <a:ea typeface="Microsoft YaHei"/>
                <a:cs typeface="Microsoft YaHei"/>
              </a:rPr>
              <a:t>演示业务数据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客户 9 · 联系人 9 · 产品 14 · 线索 8 · 商机 6 · 合同 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回款计划 3 · 回款记录 2 · 跟进 7 · 团队成员 17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客户 / 级别 / 来源 / 单位等数据字典按防腐行业语义配置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89120"/>
            <a:ext cx="1101852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可验收范围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① 全链路 CRM：公海 / 线索 → 客户 → 商机 → 合同 → 回款，状态与权限正确；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② 详情枢纽：客户详情下联系人 / 商机 / 合同 / 回款 / 跟进 / 团队 / 日志完整串联；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③ 权限与多租户：切换租户数据隔离，不同角色可见菜单与按钮不同。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59" y="365759"/>
            <a:ext cx="1828800" cy="1828800"/>
          </a:xfrm>
          <a:prstGeom prst="ellipse">
            <a:avLst/>
          </a:prstGeom>
          <a:noFill/>
          <a:ln w="2540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79" y="320040"/>
            <a:ext cx="1005840" cy="1005840"/>
          </a:xfrm>
          <a:prstGeom prst="ellipse">
            <a:avLst/>
          </a:prstGeom>
          <a:noFill/>
          <a:ln w="25400">
            <a:solidFill>
              <a:srgbClr val="E8A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让每一笔生意：找得到客户 · 谈得成商机 · 收得回钱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以数据驱动销售经营，以流程保障履约回款，以多租户支撑规模化复制。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300" b="0">
                <a:solidFill>
                  <a:srgbClr val="8FA9BE"/>
                </a:solidFill>
                <a:latin typeface="Microsoft YaHei"/>
                <a:ea typeface="Microsoft YaHei"/>
                <a:cs typeface="Microsoft YaHei"/>
              </a:rPr>
              <a:t>防腐保温行业一体化智慧管理平台 · CRM 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E8A13D"/>
                </a:solidFill>
                <a:latin typeface="Microsoft YaHei"/>
                <a:ea typeface="Microsoft YaHei"/>
                <a:cs typeface="Microsoft YaHei"/>
              </a:rPr>
              <a:t>THANKS · 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